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97316"/>
                </a:solidFill>
                <a:latin typeface="Arial"/>
              </a:defRPr>
            </a:pPr>
            <a:r>
              <a:t>CIVIC PULSE</a:t>
            </a:r>
          </a:p>
          <a:p>
            <a:pPr algn="ctr">
              <a:spcBef>
                <a:spcPts val="2000"/>
              </a:spcBef>
              <a:defRPr sz="2200">
                <a:solidFill>
                  <a:srgbClr val="FFFFFF"/>
                </a:solidFill>
                <a:latin typeface="Arial"/>
              </a:defRPr>
            </a:pPr>
            <a:r>
              <a:t>AI-Powered Citizen Ingestion Meets Real-Time PMO Governance</a:t>
            </a:r>
          </a:p>
          <a:p>
            <a:pPr algn="ctr">
              <a:spcBef>
                <a:spcPts val="1000"/>
              </a:spcBef>
              <a:defRPr sz="1400">
                <a:solidFill>
                  <a:srgbClr val="C8D6E5"/>
                </a:solidFill>
                <a:latin typeface="Arial"/>
              </a:defRPr>
            </a:pPr>
            <a:r>
              <a:t>Built on Google Cloud Run, Cloud SQL, BigQuery Federated Connections, and Gemini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97316"/>
                </a:solidFill>
                <a:latin typeface="Arial"/>
              </a:defRPr>
            </a:pPr>
            <a:r>
              <a:t>The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Fragmented Communication Channels</a:t>
            </a:r>
          </a:p>
          <a:p>
            <a:pPr lvl="1">
              <a:spcAft>
                <a:spcPts val="1200"/>
              </a:spcAft>
              <a:defRPr sz="1600">
                <a:solidFill>
                  <a:srgbClr val="C8D6E5"/>
                </a:solidFill>
                <a:latin typeface="Arial"/>
              </a:defRPr>
            </a:pPr>
            <a:r>
              <a:t>Suggestions and complaints are split across WhatsApp, email, hotlines, and local portals.</a:t>
            </a:r>
          </a:p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High Administrative Latency (ETL Lag)</a:t>
            </a:r>
          </a:p>
          <a:p>
            <a:pPr lvl="1">
              <a:spcAft>
                <a:spcPts val="1200"/>
              </a:spcAft>
              <a:defRPr sz="1600">
                <a:solidFill>
                  <a:srgbClr val="C8D6E5"/>
                </a:solidFill>
                <a:latin typeface="Arial"/>
              </a:defRPr>
            </a:pPr>
            <a:r>
              <a:t>Standard analytical dashboards run batch syncs only once every 12-24 hours.</a:t>
            </a:r>
          </a:p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Accountability Gaps</a:t>
            </a:r>
          </a:p>
          <a:p>
            <a:pPr lvl="1">
              <a:spcAft>
                <a:spcPts val="1200"/>
              </a:spcAft>
              <a:defRPr sz="1600">
                <a:solidFill>
                  <a:srgbClr val="C8D6E5"/>
                </a:solidFill>
                <a:latin typeface="Arial"/>
              </a:defRPr>
            </a:pPr>
            <a:r>
              <a:t>Lack of unified, real-time performance ratings for Lok Sabha MPs, Vidhan Sabha MLAs, and Ward Officers.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97316"/>
                </a:solidFill>
                <a:latin typeface="Arial"/>
              </a:defRPr>
            </a:pPr>
            <a:r>
              <a:t>The Civic Pulse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Unified Citizen Ingestion Portal</a:t>
            </a:r>
          </a:p>
          <a:p>
            <a:pPr lvl="1">
              <a:spcAft>
                <a:spcPts val="1200"/>
              </a:spcAft>
              <a:defRPr sz="1600">
                <a:solidFill>
                  <a:srgbClr val="C8D6E5"/>
                </a:solidFill>
                <a:latin typeface="Arial"/>
              </a:defRPr>
            </a:pPr>
            <a:r>
              <a:t>Decoupled ingest API that captures voice recordings, images, and text seamlessly.</a:t>
            </a:r>
          </a:p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Instant AI-Routing &amp; Triage</a:t>
            </a:r>
          </a:p>
          <a:p>
            <a:pPr lvl="1">
              <a:spcAft>
                <a:spcPts val="1200"/>
              </a:spcAft>
              <a:defRPr sz="1600">
                <a:solidFill>
                  <a:srgbClr val="C8D6E5"/>
                </a:solidFill>
                <a:latin typeface="Arial"/>
              </a:defRPr>
            </a:pPr>
            <a:r>
              <a:t>Classifies issues, maps GPS markers to local Wards, and flags priority instantly.</a:t>
            </a:r>
          </a:p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Centralized PMO Command Center</a:t>
            </a:r>
          </a:p>
          <a:p>
            <a:pPr lvl="1">
              <a:spcAft>
                <a:spcPts val="1200"/>
              </a:spcAft>
              <a:defRPr sz="1600">
                <a:solidFill>
                  <a:srgbClr val="C8D6E5"/>
                </a:solidFill>
                <a:latin typeface="Arial"/>
              </a:defRPr>
            </a:pPr>
            <a:r>
              <a:t>Live analytics and representative directories rating resolution speed and performance.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97316"/>
                </a:solidFill>
                <a:latin typeface="Arial"/>
              </a:defRPr>
            </a:pPr>
            <a:r>
              <a:t>AI Pipeline: Gemini 1.5 Flash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Dialect Voice Transcription</a:t>
            </a:r>
          </a:p>
          <a:p>
            <a:pPr lvl="1">
              <a:spcAft>
                <a:spcPts val="1200"/>
              </a:spcAft>
              <a:defRPr sz="1600">
                <a:solidFill>
                  <a:srgbClr val="C8D6E5"/>
                </a:solidFill>
                <a:latin typeface="Arial"/>
              </a:defRPr>
            </a:pPr>
            <a:r>
              <a:t>Transcribes regional language audio recordings into structured text formats.</a:t>
            </a:r>
          </a:p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Grievance Category Auto-Routing</a:t>
            </a:r>
          </a:p>
          <a:p>
            <a:pPr lvl="1">
              <a:spcAft>
                <a:spcPts val="1200"/>
              </a:spcAft>
              <a:defRPr sz="1600">
                <a:solidFill>
                  <a:srgbClr val="C8D6E5"/>
                </a:solidFill>
                <a:latin typeface="Arial"/>
              </a:defRPr>
            </a:pPr>
            <a:r>
              <a:t>Maps reports directly to appropriate municipal departments (Water, Sanitation, Roads).</a:t>
            </a:r>
          </a:p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Urgency Priority Weights</a:t>
            </a:r>
          </a:p>
          <a:p>
            <a:pPr lvl="1">
              <a:spcAft>
                <a:spcPts val="1200"/>
              </a:spcAft>
              <a:defRPr sz="1600">
                <a:solidFill>
                  <a:srgbClr val="C8D6E5"/>
                </a:solidFill>
                <a:latin typeface="Arial"/>
              </a:defRPr>
            </a:pPr>
            <a:r>
              <a:t>Computes risk scores from 1-100 to prioritize critical structural breakdowns.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97316"/>
                </a:solidFill>
                <a:latin typeface="Arial"/>
              </a:defRPr>
            </a:pPr>
            <a:r>
              <a:t>Technical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Stateless API Node Pool</a:t>
            </a:r>
          </a:p>
          <a:p>
            <a:pPr lvl="1">
              <a:spcAft>
                <a:spcPts val="1200"/>
              </a:spcAft>
              <a:defRPr sz="1600">
                <a:solidFill>
                  <a:srgbClr val="C8D6E5"/>
                </a:solidFill>
                <a:latin typeface="Arial"/>
              </a:defRPr>
            </a:pPr>
            <a:r>
              <a:t>FastAPI backend instances load balanced by Nginx and running on Google Cloud Run.</a:t>
            </a:r>
          </a:p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Normalized Write Cache (OLTP)</a:t>
            </a:r>
          </a:p>
          <a:p>
            <a:pPr lvl="1">
              <a:spcAft>
                <a:spcPts val="1200"/>
              </a:spcAft>
              <a:defRPr sz="1600">
                <a:solidFill>
                  <a:srgbClr val="C8D6E5"/>
                </a:solidFill>
                <a:latin typeface="Arial"/>
              </a:defRPr>
            </a:pPr>
            <a:r>
              <a:t>Cloud SQL PostgreSQL database for concurrent ACID writes.</a:t>
            </a:r>
          </a:p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Transactional Attachment Security</a:t>
            </a:r>
          </a:p>
          <a:p>
            <a:pPr lvl="1">
              <a:spcAft>
                <a:spcPts val="1200"/>
              </a:spcAft>
              <a:defRPr sz="1600">
                <a:solidFill>
                  <a:srgbClr val="C8D6E5"/>
                </a:solidFill>
                <a:latin typeface="Arial"/>
              </a:defRPr>
            </a:pPr>
            <a:r>
              <a:t>File uploads coupled directly to pre-generated Suggestion UUIDs with automatic disk/GCS cleanup if transactions fail.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97316"/>
                </a:solidFill>
                <a:latin typeface="Arial"/>
              </a:defRPr>
            </a:pPr>
            <a:r>
              <a:t>BigQuery Live Federated Sync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Decoupling OLTP and OLAP workloads</a:t>
            </a:r>
          </a:p>
          <a:p>
            <a:pPr lvl="1">
              <a:spcAft>
                <a:spcPts val="1200"/>
              </a:spcAft>
              <a:defRPr sz="1600">
                <a:solidFill>
                  <a:srgbClr val="C8D6E5"/>
                </a:solidFill>
                <a:latin typeface="Arial"/>
              </a:defRPr>
            </a:pPr>
            <a:r>
              <a:t>No slow data replication, scheduling scripts, or background CRON jobs.</a:t>
            </a:r>
          </a:p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Direct Federated Queries</a:t>
            </a:r>
          </a:p>
          <a:p>
            <a:pPr lvl="1">
              <a:spcAft>
                <a:spcPts val="1200"/>
              </a:spcAft>
              <a:defRPr sz="1600">
                <a:solidFill>
                  <a:srgbClr val="C8D6E5"/>
                </a:solidFill>
                <a:latin typeface="Arial"/>
              </a:defRPr>
            </a:pPr>
            <a:r>
              <a:t>BigQuery runs EXTERNAL_QUERY direct database scans to PostgreSQL in-place.</a:t>
            </a:r>
          </a:p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Real-Time Analytics Dashboard</a:t>
            </a:r>
          </a:p>
          <a:p>
            <a:pPr lvl="1">
              <a:spcAft>
                <a:spcPts val="1200"/>
              </a:spcAft>
              <a:defRPr sz="1600">
                <a:solidFill>
                  <a:srgbClr val="C8D6E5"/>
                </a:solidFill>
                <a:latin typeface="Arial"/>
              </a:defRPr>
            </a:pPr>
            <a:r>
              <a:t>Access instantaneous insights on connections, saturation, and representative TAT metrics.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97316"/>
                </a:solidFill>
                <a:latin typeface="Arial"/>
              </a:defRPr>
            </a:pPr>
            <a:r>
              <a:t>Who It Serves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Elected Representatives (MPs / MLAs)</a:t>
            </a:r>
          </a:p>
          <a:p>
            <a:pPr lvl="1">
              <a:spcAft>
                <a:spcPts val="1200"/>
              </a:spcAft>
              <a:defRPr sz="1600">
                <a:solidFill>
                  <a:srgbClr val="C8D6E5"/>
                </a:solidFill>
                <a:latin typeface="Arial"/>
              </a:defRPr>
            </a:pPr>
            <a:r>
              <a:t>Transparent oversight to monitor constituency backlog items and track public work progress.</a:t>
            </a:r>
          </a:p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Municipal Ward Officers</a:t>
            </a:r>
          </a:p>
          <a:p>
            <a:pPr lvl="1">
              <a:spcAft>
                <a:spcPts val="1200"/>
              </a:spcAft>
              <a:defRPr sz="1600">
                <a:solidFill>
                  <a:srgbClr val="C8D6E5"/>
                </a:solidFill>
                <a:latin typeface="Arial"/>
              </a:defRPr>
            </a:pPr>
            <a:r>
              <a:t>Receives cleanly parsed, geolocated tasks routed straight to local administration units.</a:t>
            </a:r>
          </a:p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Central PMO Administrators</a:t>
            </a:r>
          </a:p>
          <a:p>
            <a:pPr lvl="1">
              <a:spcAft>
                <a:spcPts val="1200"/>
              </a:spcAft>
              <a:defRPr sz="1600">
                <a:solidFill>
                  <a:srgbClr val="C8D6E5"/>
                </a:solidFill>
                <a:latin typeface="Arial"/>
              </a:defRPr>
            </a:pPr>
            <a:r>
              <a:t>Immediate tools to analyze regional governance trends and hold reps accountable.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97316"/>
                </a:solidFill>
                <a:latin typeface="Arial"/>
              </a:defRPr>
            </a:pPr>
            <a:r>
              <a:t>PMO Command Center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Representative Directory</a:t>
            </a:r>
          </a:p>
          <a:p>
            <a:pPr lvl="1">
              <a:spcAft>
                <a:spcPts val="1200"/>
              </a:spcAft>
              <a:defRPr sz="1600">
                <a:solidFill>
                  <a:srgbClr val="C8D6E5"/>
                </a:solidFill>
                <a:latin typeface="Arial"/>
              </a:defRPr>
            </a:pPr>
            <a:r>
              <a:t>Searchable, paginated rosters listing active reps, sanction metrics, and open backlogs.</a:t>
            </a:r>
          </a:p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Performance Index &amp; Leaderboards</a:t>
            </a:r>
          </a:p>
          <a:p>
            <a:pPr lvl="1">
              <a:spcAft>
                <a:spcPts val="1200"/>
              </a:spcAft>
              <a:defRPr sz="1600">
                <a:solidFill>
                  <a:srgbClr val="C8D6E5"/>
                </a:solidFill>
                <a:latin typeface="Arial"/>
              </a:defRPr>
            </a:pPr>
            <a:r>
              <a:t>Dynamic ranking lists featuring Rank 1, 2, and 3 leaders in Gold, Blue, and Green themes.</a:t>
            </a:r>
          </a:p>
          <a:p>
            <a:pPr lvl="1">
              <a:spcAft>
                <a:spcPts val="1200"/>
              </a:spcAft>
              <a:defRPr sz="1600">
                <a:solidFill>
                  <a:srgbClr val="C8D6E5"/>
                </a:solidFill>
                <a:latin typeface="Arial"/>
              </a:defRPr>
            </a:pPr>
            <a:r>
              <a:t>Evaluates Governance Scores out of 100 based on resolution speed (TAT) and closure rates.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97316"/>
                </a:solidFill>
                <a:latin typeface="Arial"/>
              </a:defRPr>
            </a:pPr>
            <a:r>
              <a:t>Why It's Deployable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Production-Grade Fail-Safes</a:t>
            </a:r>
          </a:p>
          <a:p>
            <a:pPr lvl="1">
              <a:spcAft>
                <a:spcPts val="1200"/>
              </a:spcAft>
              <a:defRPr sz="1600">
                <a:solidFill>
                  <a:srgbClr val="C8D6E5"/>
                </a:solidFill>
                <a:latin typeface="Arial"/>
              </a:defRPr>
            </a:pPr>
            <a:r>
              <a:t>Automated rollbacks prevent orphaned database entries and file storage leaks.</a:t>
            </a:r>
          </a:p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Zero Migration Overhead</a:t>
            </a:r>
          </a:p>
          <a:p>
            <a:pPr lvl="1">
              <a:spcAft>
                <a:spcPts val="1200"/>
              </a:spcAft>
              <a:defRPr sz="1600">
                <a:solidFill>
                  <a:srgbClr val="C8D6E5"/>
                </a:solidFill>
                <a:latin typeface="Arial"/>
              </a:defRPr>
            </a:pPr>
            <a:r>
              <a:t>Integrates on top of existing local government databases without breaking downstream structures.</a:t>
            </a:r>
          </a:p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Widescreen Responsive UI</a:t>
            </a:r>
          </a:p>
          <a:p>
            <a:pPr lvl="1">
              <a:spcAft>
                <a:spcPts val="1200"/>
              </a:spcAft>
              <a:defRPr sz="1600">
                <a:solidFill>
                  <a:srgbClr val="C8D6E5"/>
                </a:solidFill>
                <a:latin typeface="Arial"/>
              </a:defRPr>
            </a:pPr>
            <a:r>
              <a:t>High-fidelity glassmorphism dashboards with built-in dark modes and multi-language support.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97316"/>
                </a:solidFill>
                <a:latin typeface="Arial"/>
              </a:defRPr>
            </a:pPr>
            <a:r>
              <a:t>Scalability Beyond 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Municipal Corporation Scale (BBMP / BMC)</a:t>
            </a:r>
          </a:p>
          <a:p>
            <a:pPr lvl="1">
              <a:spcAft>
                <a:spcPts val="1200"/>
              </a:spcAft>
              <a:defRPr sz="1600">
                <a:solidFill>
                  <a:srgbClr val="C8D6E5"/>
                </a:solidFill>
                <a:latin typeface="Arial"/>
              </a:defRPr>
            </a:pPr>
            <a:r>
              <a:t>Establish local ward-officer networks to handle daily public sanitation and road tasks.</a:t>
            </a:r>
          </a:p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State &amp; National Roster Integrations</a:t>
            </a:r>
          </a:p>
          <a:p>
            <a:pPr lvl="1">
              <a:spcAft>
                <a:spcPts val="1200"/>
              </a:spcAft>
              <a:defRPr sz="1600">
                <a:solidFill>
                  <a:srgbClr val="C8D6E5"/>
                </a:solidFill>
                <a:latin typeface="Arial"/>
              </a:defRPr>
            </a:pPr>
            <a:r>
              <a:t>Automatically link Lok Sabha and Vidhan Sabha representatives to regional performance metrics.</a:t>
            </a:r>
          </a:p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AI Automated Duplicate Prevention</a:t>
            </a:r>
          </a:p>
          <a:p>
            <a:pPr lvl="1">
              <a:spcAft>
                <a:spcPts val="1200"/>
              </a:spcAft>
              <a:defRPr sz="1600">
                <a:solidFill>
                  <a:srgbClr val="C8D6E5"/>
                </a:solidFill>
                <a:latin typeface="Arial"/>
              </a:defRPr>
            </a:pPr>
            <a:r>
              <a:t>Group identical regional reports into singular resolved actions using vector similarity search.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97316"/>
                </a:solidFill>
                <a:latin typeface="Arial"/>
              </a:defRPr>
            </a:pPr>
            <a:r>
              <a:t>Security &amp; Enterprise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Role-Based Access Control (RBAC)</a:t>
            </a:r>
          </a:p>
          <a:p>
            <a:pPr lvl="1">
              <a:spcAft>
                <a:spcPts val="1200"/>
              </a:spcAft>
              <a:defRPr sz="1600">
                <a:solidFill>
                  <a:srgbClr val="C8D6E5"/>
                </a:solidFill>
                <a:latin typeface="Arial"/>
              </a:defRPr>
            </a:pPr>
            <a:r>
              <a:t>Strict user authorization gates dividing Citizen operations, MP dashboards, and PMO Admin screens.</a:t>
            </a:r>
          </a:p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Domestic Sovereignty Support</a:t>
            </a:r>
          </a:p>
          <a:p>
            <a:pPr lvl="1">
              <a:spcAft>
                <a:spcPts val="1200"/>
              </a:spcAft>
              <a:defRPr sz="1600">
                <a:solidFill>
                  <a:srgbClr val="C8D6E5"/>
                </a:solidFill>
                <a:latin typeface="Arial"/>
              </a:defRPr>
            </a:pPr>
            <a:r>
              <a:t>Easily deployable on local state government servers to satisfy domestic data laws.</a:t>
            </a:r>
          </a:p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Audit Logs</a:t>
            </a:r>
          </a:p>
          <a:p>
            <a:pPr lvl="1">
              <a:spcAft>
                <a:spcPts val="1200"/>
              </a:spcAft>
              <a:defRPr sz="1600">
                <a:solidFill>
                  <a:srgbClr val="C8D6E5"/>
                </a:solidFill>
                <a:latin typeface="Arial"/>
              </a:defRPr>
            </a:pPr>
            <a:r>
              <a:t>Immutable historical trail tracking status changes, officer assignments, and resolution time stamps.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